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9AC668-6C0D-45C8-83DD-88EAEC850EC9}" v="22" dt="2026-08-04T17:35:04.26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mai Awate" userId="0229148712264a68" providerId="LiveId" clId="{B70E8594-7819-4650-B35F-DF9DB7C1517F}"/>
    <pc:docChg chg="custSel addSld delSld modSld">
      <pc:chgData name="Chinmai Awate" userId="0229148712264a68" providerId="LiveId" clId="{B70E8594-7819-4650-B35F-DF9DB7C1517F}" dt="2026-08-05T04:53:20.430" v="6" actId="14100"/>
      <pc:docMkLst>
        <pc:docMk/>
      </pc:docMkLst>
      <pc:sldChg chg="addSp delSp modSp mod">
        <pc:chgData name="Chinmai Awate" userId="0229148712264a68" providerId="LiveId" clId="{B70E8594-7819-4650-B35F-DF9DB7C1517F}" dt="2026-08-05T04:53:20.430" v="6" actId="14100"/>
        <pc:sldMkLst>
          <pc:docMk/>
          <pc:sldMk cId="2601907186" sldId="303"/>
        </pc:sldMkLst>
        <pc:picChg chg="del">
          <ac:chgData name="Chinmai Awate" userId="0229148712264a68" providerId="LiveId" clId="{B70E8594-7819-4650-B35F-DF9DB7C1517F}" dt="2026-08-05T04:52:40.772" v="0" actId="478"/>
          <ac:picMkLst>
            <pc:docMk/>
            <pc:sldMk cId="2601907186" sldId="303"/>
            <ac:picMk id="4" creationId="{BA6C1B5E-405A-0E58-2397-353A88D82B9B}"/>
          </ac:picMkLst>
        </pc:picChg>
        <pc:picChg chg="add mod">
          <ac:chgData name="Chinmai Awate" userId="0229148712264a68" providerId="LiveId" clId="{B70E8594-7819-4650-B35F-DF9DB7C1517F}" dt="2026-08-05T04:53:20.430" v="6" actId="14100"/>
          <ac:picMkLst>
            <pc:docMk/>
            <pc:sldMk cId="2601907186" sldId="303"/>
            <ac:picMk id="5" creationId="{52215347-6414-7F20-B250-1D7B26FE35D4}"/>
          </ac:picMkLst>
        </pc:picChg>
      </pc:sldChg>
      <pc:sldChg chg="new del">
        <pc:chgData name="Chinmai Awate" userId="0229148712264a68" providerId="LiveId" clId="{B70E8594-7819-4650-B35F-DF9DB7C1517F}" dt="2026-08-05T04:52:50.270" v="2" actId="2696"/>
        <pc:sldMkLst>
          <pc:docMk/>
          <pc:sldMk cId="1717686533" sldId="3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chinmai.awate25@mmit.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2933715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CHINMAI AWATE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chinmai.awate25@mmit.edu.in</a:t>
                      </a:r>
                      <a:endParaRPr lang="en-IN" dirty="0"/>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8805525693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t>Smart Study Generator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8" name="Picture 7">
            <a:extLst>
              <a:ext uri="{FF2B5EF4-FFF2-40B4-BE49-F238E27FC236}">
                <a16:creationId xmlns:a16="http://schemas.microsoft.com/office/drawing/2014/main" id="{7185B184-73A0-14D3-C5EB-FC5F7FA5CBDF}"/>
              </a:ext>
            </a:extLst>
          </p:cNvPr>
          <p:cNvPicPr>
            <a:picLocks noChangeAspect="1"/>
          </p:cNvPicPr>
          <p:nvPr/>
        </p:nvPicPr>
        <p:blipFill>
          <a:blip r:embed="rId4"/>
          <a:stretch>
            <a:fillRect/>
          </a:stretch>
        </p:blipFill>
        <p:spPr>
          <a:xfrm>
            <a:off x="4216400" y="3779918"/>
            <a:ext cx="745067" cy="74506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:Smart Study Generator Agent</a:t>
            </a:r>
          </a:p>
          <a:p>
            <a:pPr fontAlgn="base"/>
            <a:r>
              <a:rPr lang="en-US" b="1" dirty="0"/>
              <a:t>The Challenge</a:t>
            </a:r>
            <a:r>
              <a:rPr lang="en-US" dirty="0"/>
              <a:t> </a:t>
            </a:r>
          </a:p>
          <a:p>
            <a:pPr fontAlgn="base"/>
            <a:r>
              <a:rPr lang="en-US" dirty="0"/>
              <a:t>Students today face an overwhelming flood of information-lecture notes, textbooks, research</a:t>
            </a:r>
          </a:p>
          <a:p>
            <a:pPr fontAlgn="base"/>
            <a:r>
              <a:rPr lang="en-US" dirty="0"/>
              <a:t>papers, YouTube tutorials, and online resources. This content is scattered, unorganized, and</a:t>
            </a:r>
          </a:p>
          <a:p>
            <a:pPr fontAlgn="base"/>
            <a:r>
              <a:rPr lang="en-US" dirty="0"/>
              <a:t>often not personalized to their learning pace or style. As a result, students struggle with finding</a:t>
            </a:r>
          </a:p>
          <a:p>
            <a:pPr fontAlgn="base"/>
            <a:r>
              <a:rPr lang="en-US" dirty="0"/>
              <a:t>the right study material, summarizing key concepts, and staying exam-ready. Traditional study</a:t>
            </a:r>
          </a:p>
          <a:p>
            <a:pPr fontAlgn="base"/>
            <a:r>
              <a:rPr lang="en-US" dirty="0"/>
              <a:t>tools only provide static notes or flashcards, failing to adapt dynamically to student needs. The</a:t>
            </a:r>
          </a:p>
          <a:p>
            <a:pPr fontAlgn="base"/>
            <a:r>
              <a:rPr lang="en-US" dirty="0"/>
              <a:t>challenge is to move beyond static resources toward an intelligent, adaptive study companion.. </a:t>
            </a:r>
          </a:p>
          <a:p>
            <a:pPr fontAlgn="base"/>
            <a:endParaRPr lang="en-US" dirty="0"/>
          </a:p>
          <a:p>
            <a:pPr fontAlgn="base"/>
            <a:r>
              <a:rPr lang="en-US" b="1" dirty="0"/>
              <a:t>The Objective</a:t>
            </a:r>
            <a:r>
              <a:rPr lang="en-US" dirty="0"/>
              <a:t> </a:t>
            </a:r>
          </a:p>
          <a:p>
            <a:pPr fontAlgn="base"/>
            <a:r>
              <a:rPr lang="en-US" dirty="0"/>
              <a:t>Build an agentic AI-powered Smart Study Generator that personalizes and streamlines learning</a:t>
            </a:r>
          </a:p>
          <a:p>
            <a:pPr fontAlgn="base"/>
            <a:r>
              <a:rPr lang="en-US" dirty="0"/>
              <a:t>for students. The solution should:</a:t>
            </a:r>
          </a:p>
          <a:p>
            <a:pPr fontAlgn="base"/>
            <a:r>
              <a:rPr lang="en-US" b="1" dirty="0"/>
              <a:t>* Fuse Learning Resources</a:t>
            </a:r>
            <a:r>
              <a:rPr lang="en-US" dirty="0"/>
              <a:t>: Aggregate content from class notes, textbooks, research</a:t>
            </a:r>
          </a:p>
          <a:p>
            <a:pPr fontAlgn="base"/>
            <a:r>
              <a:rPr lang="en-US" dirty="0"/>
              <a:t> articles, and online tutorials into structured, easy-to-digest study material.</a:t>
            </a:r>
          </a:p>
          <a:p>
            <a:pPr fontAlgn="base"/>
            <a:r>
              <a:rPr lang="en-US" b="1" dirty="0"/>
              <a:t>* Enable Multimodal Input: </a:t>
            </a:r>
            <a:r>
              <a:rPr lang="en-US" dirty="0"/>
              <a:t>Allow students to upload notes, voice queries, or images (e.g.,</a:t>
            </a:r>
          </a:p>
          <a:p>
            <a:pPr fontAlgn="base"/>
            <a:r>
              <a:rPr lang="en-US" dirty="0"/>
              <a:t> textbook pages), and generate concise summaries, flashcards, or concept maps.</a:t>
            </a:r>
          </a:p>
          <a:p>
            <a:pPr fontAlgn="base"/>
            <a:r>
              <a:rPr lang="en-US" b="1" dirty="0"/>
              <a:t>*Create a Predictive &amp; Agentic Layer: </a:t>
            </a:r>
            <a:r>
              <a:rPr lang="en-US" dirty="0"/>
              <a:t>Recommend personalized study plans, highlight</a:t>
            </a:r>
          </a:p>
          <a:p>
            <a:pPr fontAlgn="base"/>
            <a:r>
              <a:rPr lang="en-US" dirty="0"/>
              <a:t> important topics based on syllabus or past exams, and provide predictive alerts (e.g., “Focus</a:t>
            </a:r>
          </a:p>
          <a:p>
            <a:pPr fontAlgn="base"/>
            <a:r>
              <a:rPr lang="en-US" dirty="0"/>
              <a:t>on Topic X—frequently asked in exams”).</a:t>
            </a:r>
          </a:p>
          <a:p>
            <a:pPr fontAlgn="base"/>
            <a:r>
              <a:rPr lang="en-US" b="1" dirty="0"/>
              <a:t>*Visualize Study Progress: </a:t>
            </a:r>
            <a:r>
              <a:rPr lang="en-US" dirty="0"/>
              <a:t>Offer a real-time dashboard showing learning milestones,</a:t>
            </a:r>
          </a:p>
          <a:p>
            <a:pPr fontAlgn="base"/>
            <a:r>
              <a:rPr lang="en-US" dirty="0"/>
              <a:t> weak areas, practice quizzes, and performance forecasts.</a:t>
            </a:r>
          </a:p>
          <a:p>
            <a:r>
              <a:rPr lang="en-IN" dirty="0"/>
              <a:t>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7"/>
            <a:ext cx="7214616" cy="461665"/>
          </a:xfrm>
          <a:prstGeom prst="rect">
            <a:avLst/>
          </a:prstGeom>
          <a:noFill/>
        </p:spPr>
        <p:txBody>
          <a:bodyPr wrap="square" rtlCol="0">
            <a:spAutoFit/>
          </a:bodyPr>
          <a:lstStyle/>
          <a:p>
            <a:r>
              <a:rPr lang="en-US" sz="2400" b="1"/>
              <a:t>Proposed Solution -</a:t>
            </a:r>
            <a:endParaRPr lang="en-IN" sz="2400" b="1"/>
          </a:p>
        </p:txBody>
      </p:sp>
      <p:sp>
        <p:nvSpPr>
          <p:cNvPr id="5" name="TextBox 4">
            <a:extLst>
              <a:ext uri="{FF2B5EF4-FFF2-40B4-BE49-F238E27FC236}">
                <a16:creationId xmlns:a16="http://schemas.microsoft.com/office/drawing/2014/main" id="{018DF51E-5C77-D203-E1A5-BF6ADE8E2C1E}"/>
              </a:ext>
            </a:extLst>
          </p:cNvPr>
          <p:cNvSpPr txBox="1"/>
          <p:nvPr/>
        </p:nvSpPr>
        <p:spPr>
          <a:xfrm>
            <a:off x="576072" y="1120676"/>
            <a:ext cx="8449733" cy="4832092"/>
          </a:xfrm>
          <a:prstGeom prst="rect">
            <a:avLst/>
          </a:prstGeom>
          <a:noFill/>
        </p:spPr>
        <p:txBody>
          <a:bodyPr wrap="square">
            <a:spAutoFit/>
          </a:bodyPr>
          <a:lstStyle/>
          <a:p>
            <a:pPr>
              <a:buNone/>
            </a:pPr>
            <a:r>
              <a:rPr lang="en-IN" b="1" dirty="0"/>
              <a:t>Proposed Solution: AI-Powered Smart Study Generator Agent</a:t>
            </a:r>
          </a:p>
          <a:p>
            <a:pPr>
              <a:buNone/>
            </a:pPr>
            <a:r>
              <a:rPr lang="en-IN" dirty="0"/>
              <a:t>The proposed solution is a </a:t>
            </a:r>
            <a:r>
              <a:rPr lang="en-IN" b="1" dirty="0"/>
              <a:t>multi-agent AI-powered Smart Study Generator Agent</a:t>
            </a:r>
            <a:r>
              <a:rPr lang="en-IN" dirty="0"/>
              <a:t> built using </a:t>
            </a:r>
            <a:r>
              <a:rPr lang="en-IN" b="1" dirty="0"/>
              <a:t>IBM Bob, IBM watsonx.ai, and Granite Models</a:t>
            </a:r>
            <a:r>
              <a:rPr lang="en-IN" dirty="0"/>
              <a:t> to provide personalized and intelligent learning support. The system helps students organize scattered study materials, generate concise notes, and prepare effectively for exams.</a:t>
            </a:r>
          </a:p>
          <a:p>
            <a:pPr>
              <a:buNone/>
            </a:pPr>
            <a:r>
              <a:rPr lang="en-IN" dirty="0"/>
              <a:t>At its core, the solution uses a </a:t>
            </a:r>
            <a:r>
              <a:rPr lang="en-IN" b="1" dirty="0"/>
              <a:t>Retrieval-Augmented Generation (RAG)</a:t>
            </a:r>
            <a:r>
              <a:rPr lang="en-IN" dirty="0"/>
              <a:t> pipeline to retrieve content from lecture notes, textbooks, research papers, online tutorials, and previous-year question papers. The information is stored in a </a:t>
            </a:r>
            <a:r>
              <a:rPr lang="en-IN" b="1" dirty="0"/>
              <a:t>vector database</a:t>
            </a:r>
            <a:r>
              <a:rPr lang="en-IN" dirty="0"/>
              <a:t>, allowing Granite models to generate accurate summaries, flashcards, concept maps, and quizzes.</a:t>
            </a:r>
          </a:p>
          <a:p>
            <a:pPr>
              <a:buNone/>
            </a:pPr>
            <a:r>
              <a:rPr lang="en-IN" dirty="0"/>
              <a:t>The system consists of four key agents:</a:t>
            </a:r>
          </a:p>
          <a:p>
            <a:pPr marL="342900" lvl="0" indent="-342900">
              <a:buFont typeface="Arial" panose="020B0604020202020204" pitchFamily="34" charset="0"/>
              <a:buChar char="•"/>
            </a:pPr>
            <a:r>
              <a:rPr lang="en-IN" b="1" dirty="0"/>
              <a:t>Learning Resource Agent</a:t>
            </a:r>
            <a:r>
              <a:rPr lang="en-IN" dirty="0"/>
              <a:t> retrieves and summarizes study materials from multiple sources. </a:t>
            </a:r>
          </a:p>
          <a:p>
            <a:pPr marL="342900" lvl="0" indent="-342900">
              <a:buFont typeface="Arial" panose="020B0604020202020204" pitchFamily="34" charset="0"/>
              <a:buChar char="•"/>
            </a:pPr>
            <a:r>
              <a:rPr lang="en-IN" b="1" dirty="0"/>
              <a:t>Study Planner Agent</a:t>
            </a:r>
            <a:r>
              <a:rPr lang="en-IN" dirty="0"/>
              <a:t> creates personalized study schedules based on the syllabus, learning pace, and exam dates. </a:t>
            </a:r>
          </a:p>
          <a:p>
            <a:pPr marL="342900" lvl="0" indent="-342900">
              <a:buFont typeface="Arial" panose="020B0604020202020204" pitchFamily="34" charset="0"/>
              <a:buChar char="•"/>
            </a:pPr>
            <a:r>
              <a:rPr lang="en-IN" b="1" dirty="0"/>
              <a:t>Exam Intelligence Agent</a:t>
            </a:r>
            <a:r>
              <a:rPr lang="en-IN" dirty="0"/>
              <a:t> predicts important topics using syllabus analysis and previous-year papers while generating practice quizzes. </a:t>
            </a:r>
          </a:p>
          <a:p>
            <a:pPr marL="342900" lvl="0" indent="-342900">
              <a:buFont typeface="Arial" panose="020B0604020202020204" pitchFamily="34" charset="0"/>
              <a:buChar char="•"/>
            </a:pPr>
            <a:r>
              <a:rPr lang="en-IN" b="1" dirty="0"/>
              <a:t>Progress Tracking Agent</a:t>
            </a:r>
            <a:r>
              <a:rPr lang="en-IN" dirty="0"/>
              <a:t> monitors learning progress, identifies weak areas, and provides personalized feedback. </a:t>
            </a:r>
          </a:p>
          <a:p>
            <a:pPr>
              <a:buNone/>
            </a:pPr>
            <a:r>
              <a:rPr lang="en-IN" dirty="0"/>
              <a:t>A </a:t>
            </a:r>
            <a:r>
              <a:rPr lang="en-IN" b="1" dirty="0"/>
              <a:t>Streamlit or React dashboard</a:t>
            </a:r>
            <a:r>
              <a:rPr lang="en-IN" dirty="0"/>
              <a:t> displays study progress, quiz performance, learning milestones, and exam readiness. </a:t>
            </a:r>
            <a:r>
              <a:rPr lang="en-IN" b="1" dirty="0"/>
              <a:t>IBM Bob</a:t>
            </a:r>
            <a:r>
              <a:rPr lang="en-IN" dirty="0"/>
              <a:t> manages agent workflows, </a:t>
            </a:r>
            <a:r>
              <a:rPr lang="en-IN" b="1" dirty="0"/>
              <a:t>watsonx.ai</a:t>
            </a:r>
            <a:r>
              <a:rPr lang="en-IN" dirty="0"/>
              <a:t> provides AI deployment and embeddings, and </a:t>
            </a:r>
            <a:r>
              <a:rPr lang="en-IN" b="1" dirty="0"/>
              <a:t>Granite Models</a:t>
            </a:r>
            <a:r>
              <a:rPr lang="en-IN" dirty="0"/>
              <a:t> power summarization, reasoning, and personalized recommendations.</a:t>
            </a:r>
          </a:p>
          <a:p>
            <a:pPr>
              <a:buNone/>
            </a:pPr>
            <a:r>
              <a:rPr lang="en-IN" dirty="0"/>
              <a:t>Overall, the solution acts as an intelligent study companion that helps students learn smarter, stay organized, and improve academic performance.</a:t>
            </a:r>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a:t>
            </a:r>
            <a:r>
              <a:rPr lang="en-US" sz="1800" b="1" dirty="0"/>
              <a:t>Smart Study Generator Agent </a:t>
            </a:r>
            <a:r>
              <a:rPr lang="en-US" sz="1800" dirty="0"/>
              <a:t>efficiently. IBM Cloud enables a </a:t>
            </a:r>
            <a:r>
              <a:rPr lang="en-US" sz="1800" b="1" dirty="0"/>
              <a:t>reliable, secure, and scalable environment</a:t>
            </a:r>
            <a:r>
              <a:rPr lang="en-US" sz="1800" dirty="0"/>
              <a:t> for deploying the</a:t>
            </a:r>
            <a:r>
              <a:rPr lang="en-US" sz="1800" b="1" dirty="0"/>
              <a:t> </a:t>
            </a:r>
            <a:r>
              <a:rPr lang="en-US" sz="1800" dirty="0"/>
              <a:t>Smart Study Generator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Smart Study Generator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Educational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4367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83041" y="1378725"/>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E919097B-D4EA-38C2-A987-4C78759B702C}"/>
              </a:ext>
            </a:extLst>
          </p:cNvPr>
          <p:cNvPicPr>
            <a:picLocks noChangeAspect="1"/>
          </p:cNvPicPr>
          <p:nvPr/>
        </p:nvPicPr>
        <p:blipFill>
          <a:blip r:embed="rId3"/>
          <a:stretch>
            <a:fillRect/>
          </a:stretch>
        </p:blipFill>
        <p:spPr>
          <a:xfrm>
            <a:off x="3200400" y="1276134"/>
            <a:ext cx="8585199" cy="506593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IN" b="1" dirty="0"/>
              <a:t>Role of Agentic AI in Smart Study Generator Agent</a:t>
            </a:r>
          </a:p>
          <a:p>
            <a:r>
              <a:rPr lang="en-IN" dirty="0"/>
              <a:t>Agentic AI enables the </a:t>
            </a:r>
            <a:r>
              <a:rPr lang="en-IN" b="1" dirty="0"/>
              <a:t>Smart Study Generator Agent</a:t>
            </a:r>
            <a:r>
              <a:rPr lang="en-IN" dirty="0"/>
              <a:t> to function as an intelligent, autonomous learning assistant rather than a simple study tool. Using </a:t>
            </a:r>
            <a:r>
              <a:rPr lang="en-IN" b="1" dirty="0"/>
              <a:t>IBM watsonx.ai</a:t>
            </a:r>
            <a:r>
              <a:rPr lang="en-IN" dirty="0"/>
              <a:t> and </a:t>
            </a:r>
            <a:r>
              <a:rPr lang="en-IN" b="1" dirty="0"/>
              <a:t>IBM Granite Models</a:t>
            </a:r>
            <a:r>
              <a:rPr lang="en-IN" dirty="0"/>
              <a:t>, it coordinates multiple specialized agents to provide personalized and adaptive learning support.</a:t>
            </a:r>
          </a:p>
          <a:p>
            <a:r>
              <a:rPr lang="en-IN" dirty="0"/>
              <a:t>Each agent performs a specific role-such as retrieving study materials, generating summaries and flashcards, creating personalized study plans, predicting important exam topics, and tracking student progress-while working collaboratively. This multi-agent approach ensures efficient task execution and accurate learning outcomes.</a:t>
            </a:r>
          </a:p>
          <a:p>
            <a:r>
              <a:rPr lang="en-IN" dirty="0"/>
              <a:t>Agentic AI also brings </a:t>
            </a:r>
            <a:r>
              <a:rPr lang="en-IN" b="1" dirty="0"/>
              <a:t>context awareness</a:t>
            </a:r>
            <a:r>
              <a:rPr lang="en-IN" dirty="0"/>
              <a:t>, understanding the student's syllabus, learning pace, strengths, weak areas, and exam schedule to generate personalized recommendations. It supports </a:t>
            </a:r>
            <a:r>
              <a:rPr lang="en-IN" b="1" dirty="0"/>
              <a:t>real-time adaptation</a:t>
            </a:r>
            <a:r>
              <a:rPr lang="en-IN" dirty="0"/>
              <a:t>, continuously updating study plans and learning resources based on user performance, quiz results, and new study materials.</a:t>
            </a:r>
          </a:p>
          <a:p>
            <a:r>
              <a:rPr lang="en-IN" dirty="0"/>
              <a:t>Additionally, the agents communicate with each other, enabling better decision-making and a seamless learning experience.</a:t>
            </a:r>
          </a:p>
          <a:p>
            <a:r>
              <a:rPr lang="en-IN" dirty="0"/>
              <a:t>Overall, Agentic AI makes the system </a:t>
            </a:r>
            <a:r>
              <a:rPr lang="en-IN" b="1" dirty="0"/>
              <a:t>proactive, personalized, and goal-driven</a:t>
            </a:r>
            <a:r>
              <a:rPr lang="en-IN" dirty="0"/>
              <a:t>, acting like a smart digital tutor that helps students organize their studies, improve understanding, and stay exam-ready.</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574E5437-1AA8-8E3D-0699-36BCC88BFAF8}"/>
              </a:ext>
            </a:extLst>
          </p:cNvPr>
          <p:cNvPicPr>
            <a:picLocks noChangeAspect="1"/>
          </p:cNvPicPr>
          <p:nvPr/>
        </p:nvPicPr>
        <p:blipFill>
          <a:blip r:embed="rId3"/>
          <a:stretch>
            <a:fillRect/>
          </a:stretch>
        </p:blipFill>
        <p:spPr>
          <a:xfrm>
            <a:off x="1218723" y="879713"/>
            <a:ext cx="8955179" cy="503001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DB224847-C54C-3020-B6D2-AE35C0729E96}"/>
              </a:ext>
            </a:extLst>
          </p:cNvPr>
          <p:cNvPicPr>
            <a:picLocks noChangeAspect="1"/>
          </p:cNvPicPr>
          <p:nvPr/>
        </p:nvPicPr>
        <p:blipFill>
          <a:blip r:embed="rId3"/>
          <a:stretch>
            <a:fillRect/>
          </a:stretch>
        </p:blipFill>
        <p:spPr>
          <a:xfrm>
            <a:off x="1335023" y="1033014"/>
            <a:ext cx="9121309" cy="541607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52215347-6414-7F20-B250-1D7B26FE35D4}"/>
              </a:ext>
            </a:extLst>
          </p:cNvPr>
          <p:cNvPicPr>
            <a:picLocks noChangeAspect="1"/>
          </p:cNvPicPr>
          <p:nvPr/>
        </p:nvPicPr>
        <p:blipFill>
          <a:blip r:embed="rId3"/>
          <a:stretch>
            <a:fillRect/>
          </a:stretch>
        </p:blipFill>
        <p:spPr>
          <a:xfrm>
            <a:off x="1143000" y="1274387"/>
            <a:ext cx="9169400" cy="4921954"/>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r>
              <a:rPr lang="en-IN" b="1" dirty="0"/>
              <a:t>Novelty and Uniqueness – Smart Study Generator Agent</a:t>
            </a:r>
          </a:p>
          <a:p>
            <a:endParaRPr lang="en-IN" b="1" dirty="0"/>
          </a:p>
          <a:p>
            <a:r>
              <a:rPr lang="en-IN" dirty="0"/>
              <a:t>The proposed </a:t>
            </a:r>
            <a:r>
              <a:rPr lang="en-IN" b="1" dirty="0"/>
              <a:t>Smart Study Generator Agent</a:t>
            </a:r>
            <a:r>
              <a:rPr lang="en-IN" dirty="0"/>
              <a:t> combines </a:t>
            </a:r>
            <a:r>
              <a:rPr lang="en-IN" b="1" dirty="0"/>
              <a:t>Agentic AI, Retrieval-Augmented Generation (RAG), and personalized learning</a:t>
            </a:r>
            <a:r>
              <a:rPr lang="en-IN" dirty="0"/>
              <a:t> to create an intelligent and adaptive study companion for students.</a:t>
            </a:r>
          </a:p>
          <a:p>
            <a:pPr lvl="0"/>
            <a:r>
              <a:rPr lang="en-IN" b="1" dirty="0"/>
              <a:t>Multi-Agent Intelligence</a:t>
            </a:r>
            <a:r>
              <a:rPr lang="en-IN" dirty="0"/>
              <a:t> – Multiple specialized AI agents collaborate to summarize content, generate quizzes, create study plans, answer doubts, and track learning progress instead of relying on a single chatbot. </a:t>
            </a:r>
          </a:p>
          <a:p>
            <a:pPr lvl="0"/>
            <a:r>
              <a:rPr lang="en-IN" b="1" dirty="0"/>
              <a:t>RAG-Based Learning</a:t>
            </a:r>
            <a:r>
              <a:rPr lang="en-IN" dirty="0"/>
              <a:t> – Retrieves information directly from uploaded study materials (PDFs, notes, PPTs, and textbooks) to generate accurate, context-aware, and reliable study resources. </a:t>
            </a:r>
          </a:p>
          <a:p>
            <a:pPr lvl="0"/>
            <a:r>
              <a:rPr lang="en-IN" b="1" dirty="0"/>
              <a:t>Personalized Study Experience</a:t>
            </a:r>
            <a:r>
              <a:rPr lang="en-IN" dirty="0"/>
              <a:t> – Adapts study plans, explanations, and practice questions based on the student's learning pace, academic level, and exam schedule. </a:t>
            </a:r>
          </a:p>
          <a:p>
            <a:pPr lvl="0"/>
            <a:r>
              <a:rPr lang="en-IN" b="1" dirty="0"/>
              <a:t>Automated Study Resource Generation</a:t>
            </a:r>
            <a:r>
              <a:rPr lang="en-IN" dirty="0"/>
              <a:t> – Instantly converts lengthy study materials into summaries, revision notes, flashcards, mind maps, and mock tests, reducing manual effort. </a:t>
            </a:r>
          </a:p>
          <a:p>
            <a:pPr lvl="0"/>
            <a:r>
              <a:rPr lang="en-IN" b="1" dirty="0"/>
              <a:t>Adaptive Learning Feedback</a:t>
            </a:r>
            <a:r>
              <a:rPr lang="en-IN" dirty="0"/>
              <a:t> – Continuously analyses quiz performance and learning progress to recommend revision topics and improve weak areas. </a:t>
            </a:r>
          </a:p>
          <a:p>
            <a:pPr lvl="0"/>
            <a:r>
              <a:rPr lang="en-IN" b="1" dirty="0"/>
              <a:t>Multi-Modal Learning Support</a:t>
            </a:r>
            <a:r>
              <a:rPr lang="en-IN" dirty="0"/>
              <a:t> – Supports text, PDF, document, and image-based study materials, making it easy for students to learn from different resource formats. </a:t>
            </a:r>
          </a:p>
          <a:p>
            <a:pPr lvl="0"/>
            <a:r>
              <a:rPr lang="en-IN" b="1" dirty="0"/>
              <a:t>Exam-Oriented Intelligence</a:t>
            </a:r>
            <a:r>
              <a:rPr lang="en-IN" dirty="0"/>
              <a:t> – Prioritizes important concepts, predicts likely exam questions, and generates personalized revision strategies for efficient preparation. </a:t>
            </a:r>
          </a:p>
          <a:p>
            <a:pPr lvl="0"/>
            <a:r>
              <a:rPr lang="en-IN" b="1" dirty="0"/>
              <a:t>Scalable &amp; Enterprise-Ready</a:t>
            </a:r>
            <a:r>
              <a:rPr lang="en-IN" dirty="0"/>
              <a:t> – Built on </a:t>
            </a:r>
            <a:r>
              <a:rPr lang="en-IN" b="1" dirty="0"/>
              <a:t>IBM watsonx.ai</a:t>
            </a:r>
            <a:r>
              <a:rPr lang="en-IN" dirty="0"/>
              <a:t> with </a:t>
            </a:r>
            <a:r>
              <a:rPr lang="en-IN" b="1" dirty="0"/>
              <a:t>IBM Granite models</a:t>
            </a:r>
            <a:r>
              <a:rPr lang="en-IN" dirty="0"/>
              <a:t>, ensuring secure, reliable, and scalable AI-powered educational assistance. </a:t>
            </a:r>
          </a:p>
          <a:p>
            <a:r>
              <a:rPr lang="en-IN" b="1" dirty="0"/>
              <a:t>This makes the Smart Study Generator Agent an intelligent, personalized, and proactive learning assistant that goes beyond static note-taking tools by autonomously organizing study materials, adapting to individual learning needs, and helping students prepare effectively for exams.</a:t>
            </a: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5468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09781" y="1153712"/>
            <a:ext cx="9214580" cy="4277001"/>
          </a:xfrm>
          <a:prstGeom prst="rect">
            <a:avLst/>
          </a:prstGeom>
          <a:noFill/>
          <a:ln>
            <a:noFill/>
          </a:ln>
        </p:spPr>
        <p:txBody>
          <a:bodyPr spcFirstLastPara="1" wrap="square" lIns="0" tIns="0" rIns="0" bIns="0" anchor="t" anchorCtr="0">
            <a:noAutofit/>
          </a:bodyPr>
          <a:lstStyle/>
          <a:p>
            <a:r>
              <a:rPr lang="en-IN" sz="1800" b="1" dirty="0"/>
              <a:t>Future Scope – Smart Study Generator Agent</a:t>
            </a:r>
          </a:p>
          <a:p>
            <a:r>
              <a:rPr lang="en-IN" sz="2000" b="1" dirty="0"/>
              <a:t>1. </a:t>
            </a:r>
            <a:r>
              <a:rPr lang="en-IN" sz="1800" b="1" dirty="0"/>
              <a:t>Integration with Learning Management Systems (LMS)</a:t>
            </a:r>
            <a:br>
              <a:rPr lang="en-IN" sz="1800" dirty="0"/>
            </a:br>
            <a:r>
              <a:rPr lang="en-IN" sz="1600" dirty="0"/>
              <a:t>The Smart Study Generator Agent can be integrated with platforms such as Google Classroom, Moodle, Canvas, and Microsoft Teams to automatically access course materials, assignments, and deadlines. This will enable the agent to generate personalized study plans and reminders based on the student's academic schedule.</a:t>
            </a:r>
          </a:p>
          <a:p>
            <a:r>
              <a:rPr lang="en-IN" sz="2000" b="1" dirty="0"/>
              <a:t>2. </a:t>
            </a:r>
            <a:r>
              <a:rPr lang="en-IN" sz="1800" b="1" dirty="0"/>
              <a:t>AI-Powered Voice Tutor &amp; Multilingual Support</a:t>
            </a:r>
            <a:br>
              <a:rPr lang="en-IN" sz="2000" dirty="0"/>
            </a:br>
            <a:r>
              <a:rPr lang="en-IN" sz="1600" dirty="0"/>
              <a:t>The system can be enhanced with a voice-enabled AI tutor and multilingual support, allowing students to interact naturally through speech and receive explanations in their preferred language. This will improve accessibility and make learning more inclusive for students from diverse linguistic backgrounds.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1" name="Picture 10">
            <a:extLst>
              <a:ext uri="{FF2B5EF4-FFF2-40B4-BE49-F238E27FC236}">
                <a16:creationId xmlns:a16="http://schemas.microsoft.com/office/drawing/2014/main" id="{10CA993D-206A-59C6-B258-E4B0B70AF44D}"/>
              </a:ext>
            </a:extLst>
          </p:cNvPr>
          <p:cNvPicPr>
            <a:picLocks noChangeAspect="1"/>
          </p:cNvPicPr>
          <p:nvPr/>
        </p:nvPicPr>
        <p:blipFill>
          <a:blip r:embed="rId2"/>
          <a:stretch>
            <a:fillRect/>
          </a:stretch>
        </p:blipFill>
        <p:spPr>
          <a:xfrm>
            <a:off x="2720247" y="1367169"/>
            <a:ext cx="6751506" cy="500411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D90934E-2487-34C4-ED5A-E42B83EEC118}"/>
              </a:ext>
            </a:extLst>
          </p:cNvPr>
          <p:cNvPicPr>
            <a:picLocks noChangeAspect="1"/>
          </p:cNvPicPr>
          <p:nvPr/>
        </p:nvPicPr>
        <p:blipFill>
          <a:blip r:embed="rId2"/>
          <a:stretch>
            <a:fillRect/>
          </a:stretch>
        </p:blipFill>
        <p:spPr>
          <a:xfrm>
            <a:off x="2184399" y="1550188"/>
            <a:ext cx="7325801" cy="450734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1576</Words>
  <Application>Microsoft Office PowerPoint</Application>
  <PresentationFormat>Widescreen</PresentationFormat>
  <Paragraphs>140</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Chinmai Awate</cp:lastModifiedBy>
  <cp:revision>4</cp:revision>
  <dcterms:created xsi:type="dcterms:W3CDTF">2025-07-08T05:06:56Z</dcterms:created>
  <dcterms:modified xsi:type="dcterms:W3CDTF">2026-08-05T04:53:29Z</dcterms:modified>
</cp:coreProperties>
</file>